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the AI Answer Sheet Grading System, a modern platform engineered specifically for high-stakes theory board examinations. It merges advanced Vision AI with mandatory human examiner oversight to cut grading backlogs by 70% while guaranteeing 100% RTI defensibility.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examination season, state and national boards face the same crisis: exhausted examiners grading hundreds of thousands of handwritten scripts late into the night. Fatigue introduces variance, missed sub-questions, and retotalling errors that lead to costly re-evaluations and court litigations.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does not replace examiners; it supercharges them. The AI handles transcription and rubric matching, presenting a pre-scored draft with complete reasoning and confidence levels. The human examiner remains in the loop to verify and approve every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technical foundation: The front end is a responsive React application optimized for desktop and tablet evaluation. The backend is an asynchronous FastAPI service communicating with Claude 3.5 Sonnet Vision and persisting all data in PostgreSQL with pluggable local/S3 storage.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ingestion stage, administrators upload student scripts via multi-file or full directory upload. The system automatically parses roll numbers and pairs each script with the Master Question Paper and rubric JSON, ensuring strict version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pipeline extracts the student's handwritten response and evaluates it step-by-step against the official rubric. It doesn't just produce a score; it writes a detailed explanation of marks awarded or deducted, stamped with a clear confidence level.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grading screen provides a split-view interface. On the left is the raw handwritten scan with zoom and rotation. On the right is the AI's suggested score and reasoning. If an examiner disagrees with the AI, the override modal enforces typing a written reason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Accountability is paramount. Every evaluation is recorded in an immutable append-only audit log. In the event of an RTI inquiry or re-check, the board can produce the exact timestamp, examiner identity, original script, and step-by-step reasoning.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 Dashboard provides live visibility across examination centers. Administrators track the override rate, average transcription confidence, and evaluation speed in real-time, catching anomalies and grading drift early.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AI Answer Sheet Grading System delivers 3.5x faster grading turnaround, completely eliminates retotalling errors, and provides bulletproof institutional defense. It is the gold standard for next-generation board examinations.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0EA5E9"/>
                </a:solidFill>
              </a:defRPr>
            </a:pPr>
            <a:r>
              <a:t>SLIDE 1/10  |  AI ANSWER SHEET GRADING SYSTEM</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AI-Assisted Theory Exam Evaluation</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High-Trust Vision AI Scoring with Human-in-the-Loop Examiner Review</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Multimodal Handwriting OCR</a:t>
            </a:r>
          </a:p>
          <a:p>
            <a:pPr>
              <a:defRPr sz="1100">
                <a:solidFill>
                  <a:srgbClr val="CBD5E1"/>
                </a:solidFill>
              </a:defRPr>
            </a:pPr>
            <a:r>
              <a:t>Transcribes cursive handwriting and STEM equations via Claude Vision.</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Rubric-Aligned Evaluation</a:t>
            </a:r>
          </a:p>
          <a:p>
            <a:pPr>
              <a:defRPr sz="1100">
                <a:solidFill>
                  <a:srgbClr val="CBD5E1"/>
                </a:solidFill>
              </a:defRPr>
            </a:pPr>
            <a:r>
              <a:t>Maps student steps deterministically against board marking schemes.</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100% Human Examiner Control</a:t>
            </a:r>
          </a:p>
          <a:p>
            <a:pPr>
              <a:defRPr sz="1100">
                <a:solidFill>
                  <a:srgbClr val="CBD5E1"/>
                </a:solidFill>
              </a:defRPr>
            </a:pPr>
            <a:r>
              <a:t>Examiner reviews, approves, or overrides with mandatory typed reason.</a:t>
            </a:r>
          </a:p>
        </p:txBody>
      </p:sp>
      <p:sp>
        <p:nvSpPr>
          <p:cNvPr id="15" name="Rounded Rectangle 14"/>
          <p:cNvSpPr/>
          <p:nvPr/>
        </p:nvSpPr>
        <p:spPr>
          <a:xfrm>
            <a:off x="731520" y="6035040"/>
            <a:ext cx="5303520" cy="411480"/>
          </a:xfrm>
          <a:prstGeom prst="roundRect">
            <a:avLst/>
          </a:prstGeom>
          <a:solidFill>
            <a:srgbClr val="101828"/>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KEY CAPABILITY:  ENTERPRISE BOARD GRADE</a:t>
            </a:r>
          </a:p>
        </p:txBody>
      </p:sp>
      <p:sp>
        <p:nvSpPr>
          <p:cNvPr id="16" name="Rounded Rectangle 15"/>
          <p:cNvSpPr/>
          <p:nvPr/>
        </p:nvSpPr>
        <p:spPr>
          <a:xfrm>
            <a:off x="6309360" y="914400"/>
            <a:ext cx="5120640" cy="5212080"/>
          </a:xfrm>
          <a:prstGeom prst="roundRect">
            <a:avLst/>
          </a:prstGeom>
          <a:solidFill>
            <a:srgbClr val="0F172A"/>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i_grading_hero_1788536140812.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F59E0B"/>
                </a:solidFill>
              </a:defRPr>
            </a:pPr>
            <a:r>
              <a:t>SLIDE 2/10  |  THE CORE PROBLEM</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The Crisis in Theory Exam Evaluation</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Manual evaluation cannot keep pace with millions of handwritten board exams</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Massive Script Backlog</a:t>
            </a:r>
          </a:p>
          <a:p>
            <a:pPr>
              <a:defRPr sz="1100">
                <a:solidFill>
                  <a:srgbClr val="CBD5E1"/>
                </a:solidFill>
              </a:defRPr>
            </a:pPr>
            <a:r>
              <a:t>Millions of physical answer sheets processed under grueling deadlines.</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Examiner Fatigue &amp; Variance</a:t>
            </a:r>
          </a:p>
          <a:p>
            <a:pPr>
              <a:defRPr sz="1100">
                <a:solidFill>
                  <a:srgbClr val="CBD5E1"/>
                </a:solidFill>
              </a:defRPr>
            </a:pPr>
            <a:r>
              <a:t>Grading drift and retotalling errors spike after hours of continuous grading.</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Zero Defense in Disputes</a:t>
            </a:r>
          </a:p>
          <a:p>
            <a:pPr>
              <a:defRPr sz="1100">
                <a:solidFill>
                  <a:srgbClr val="CBD5E1"/>
                </a:solidFill>
              </a:defRPr>
            </a:pPr>
            <a:r>
              <a:t>RTI and re-evaluation requests lack auditable, step-by-step mark justification.</a:t>
            </a:r>
          </a:p>
        </p:txBody>
      </p:sp>
      <p:sp>
        <p:nvSpPr>
          <p:cNvPr id="15" name="Rounded Rectangle 14"/>
          <p:cNvSpPr/>
          <p:nvPr/>
        </p:nvSpPr>
        <p:spPr>
          <a:xfrm>
            <a:off x="731520" y="6035040"/>
            <a:ext cx="5303520" cy="411480"/>
          </a:xfrm>
          <a:prstGeom prst="roundRect">
            <a:avLst/>
          </a:prstGeom>
          <a:solidFill>
            <a:srgbClr val="10182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KEY CAPABILITY:  60+ DAY DELAYS • HIGH RETOTALLING ERRORS</a:t>
            </a:r>
          </a:p>
        </p:txBody>
      </p:sp>
      <p:sp>
        <p:nvSpPr>
          <p:cNvPr id="16" name="Rounded Rectangle 15"/>
          <p:cNvSpPr/>
          <p:nvPr/>
        </p:nvSpPr>
        <p:spPr>
          <a:xfrm>
            <a:off x="6309360" y="914400"/>
            <a:ext cx="5120640" cy="5212080"/>
          </a:xfrm>
          <a:prstGeom prst="roundRect">
            <a:avLst/>
          </a:prstGeom>
          <a:solidFill>
            <a:srgbClr val="0F172A"/>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xam_bottleneck_1788536166555.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10B981"/>
                </a:solidFill>
              </a:defRPr>
            </a:pPr>
            <a:r>
              <a:t>SLIDE 3/10  |  THE ARCHITECTURAL SOLUTION</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Human-in-the-Loop AI Grading</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AI assists the examiner — humans retain final institutional authority</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AI Does the Heavy Lifting</a:t>
            </a:r>
          </a:p>
          <a:p>
            <a:pPr>
              <a:defRPr sz="1100">
                <a:solidFill>
                  <a:srgbClr val="CBD5E1"/>
                </a:solidFill>
              </a:defRPr>
            </a:pPr>
            <a:r>
              <a:t>Automates handwriting transcription, rubric mapping, and draft scoring in seconds.</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Examiner Makes the Decision</a:t>
            </a:r>
          </a:p>
          <a:p>
            <a:pPr>
              <a:defRPr sz="1100">
                <a:solidFill>
                  <a:srgbClr val="CBD5E1"/>
                </a:solidFill>
              </a:defRPr>
            </a:pPr>
            <a:r>
              <a:t>One-click 'Approve', 'Override' (with required rationale), or 'Flag' for moderator.</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Transparent Confidence Meter</a:t>
            </a:r>
          </a:p>
          <a:p>
            <a:pPr>
              <a:defRPr sz="1100">
                <a:solidFill>
                  <a:srgbClr val="CBD5E1"/>
                </a:solidFill>
              </a:defRPr>
            </a:pPr>
            <a:r>
              <a:t>Color-coded Green/Yellow/Red confidence rating visible at a single glance.</a:t>
            </a:r>
          </a:p>
        </p:txBody>
      </p:sp>
      <p:sp>
        <p:nvSpPr>
          <p:cNvPr id="15" name="Rounded Rectangle 14"/>
          <p:cNvSpPr/>
          <p:nvPr/>
        </p:nvSpPr>
        <p:spPr>
          <a:xfrm>
            <a:off x="731520" y="6035040"/>
            <a:ext cx="5303520" cy="411480"/>
          </a:xfrm>
          <a:prstGeom prst="roundRect">
            <a:avLst/>
          </a:prstGeom>
          <a:solidFill>
            <a:srgbClr val="10182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KEY CAPABILITY:  70% FASTER • 100% HUMAN VERIFIED</a:t>
            </a:r>
          </a:p>
        </p:txBody>
      </p:sp>
      <p:sp>
        <p:nvSpPr>
          <p:cNvPr id="16" name="Rounded Rectangle 15"/>
          <p:cNvSpPr/>
          <p:nvPr/>
        </p:nvSpPr>
        <p:spPr>
          <a:xfrm>
            <a:off x="6309360" y="914400"/>
            <a:ext cx="5120640" cy="5212080"/>
          </a:xfrm>
          <a:prstGeom prst="roundRect">
            <a:avLst/>
          </a:prstGeom>
          <a:solidFill>
            <a:srgbClr val="0F172A"/>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i_human_grading_1788536187917.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0EA5E9"/>
                </a:solidFill>
              </a:defRPr>
            </a:pPr>
            <a:r>
              <a:t>SLIDE 4/10  |  SYSTEM ARCHITECTURE</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Production Tech Stack &amp; Flow</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Built with modern, enterprise-grade open-source and cloud infrastructure</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Frontend Canvas</a:t>
            </a:r>
          </a:p>
          <a:p>
            <a:pPr>
              <a:defRPr sz="1100">
                <a:solidFill>
                  <a:srgbClr val="CBD5E1"/>
                </a:solidFill>
              </a:defRPr>
            </a:pPr>
            <a:r>
              <a:t>React 18 + Tailwind CSS with split-screen synchronized viewer.</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Backend Core</a:t>
            </a:r>
          </a:p>
          <a:p>
            <a:pPr>
              <a:defRPr sz="1100">
                <a:solidFill>
                  <a:srgbClr val="CBD5E1"/>
                </a:solidFill>
              </a:defRPr>
            </a:pPr>
            <a:r>
              <a:t>FastAPI Python engine with asynchronous queue &amp; S3-compatible storage.</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Intelligence &amp; Storage</a:t>
            </a:r>
          </a:p>
          <a:p>
            <a:pPr>
              <a:defRPr sz="1100">
                <a:solidFill>
                  <a:srgbClr val="CBD5E1"/>
                </a:solidFill>
              </a:defRPr>
            </a:pPr>
            <a:r>
              <a:t>Claude 3.5 Sonnet Vision API + PostgreSQL append-only audit ledger.</a:t>
            </a:r>
          </a:p>
        </p:txBody>
      </p:sp>
      <p:sp>
        <p:nvSpPr>
          <p:cNvPr id="15" name="Rounded Rectangle 14"/>
          <p:cNvSpPr/>
          <p:nvPr/>
        </p:nvSpPr>
        <p:spPr>
          <a:xfrm>
            <a:off x="731520" y="6035040"/>
            <a:ext cx="5303520" cy="411480"/>
          </a:xfrm>
          <a:prstGeom prst="roundRect">
            <a:avLst/>
          </a:prstGeom>
          <a:solidFill>
            <a:srgbClr val="101828"/>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KEY CAPABILITY:  REACT • FASTAPI • POSTGRES • CLAUDE API</a:t>
            </a:r>
          </a:p>
        </p:txBody>
      </p:sp>
      <p:sp>
        <p:nvSpPr>
          <p:cNvPr id="16" name="Rounded Rectangle 15"/>
          <p:cNvSpPr/>
          <p:nvPr/>
        </p:nvSpPr>
        <p:spPr>
          <a:xfrm>
            <a:off x="6309360" y="914400"/>
            <a:ext cx="5120640" cy="5212080"/>
          </a:xfrm>
          <a:prstGeom prst="roundRect">
            <a:avLst/>
          </a:prstGeom>
          <a:solidFill>
            <a:srgbClr val="0F172A"/>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4_architecture.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0EA5E9"/>
                </a:solidFill>
              </a:defRPr>
            </a:pPr>
            <a:r>
              <a:t>SLIDE 5/10  |  INGESTION &amp; SETUP</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Answer Sheets &amp; Master Rubric</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Frictionless ingestion of student scripts and board marking schemes</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Batch Folder &amp; PDF Ingestion</a:t>
            </a:r>
          </a:p>
          <a:p>
            <a:pPr>
              <a:defRPr sz="1100">
                <a:solidFill>
                  <a:srgbClr val="CBD5E1"/>
                </a:solidFill>
              </a:defRPr>
            </a:pPr>
            <a:r>
              <a:t>Upload entire examination centers in bulk with automated roll/barcode parsing.</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Master Question Paper Sync</a:t>
            </a:r>
          </a:p>
          <a:p>
            <a:pPr>
              <a:defRPr sz="1100">
                <a:solidFill>
                  <a:srgbClr val="CBD5E1"/>
                </a:solidFill>
              </a:defRPr>
            </a:pPr>
            <a:r>
              <a:t>Structured marking criteria JSON with maximum marks and sub-step allocations.</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SHA-256 Tamper Proofing</a:t>
            </a:r>
          </a:p>
          <a:p>
            <a:pPr>
              <a:defRPr sz="1100">
                <a:solidFill>
                  <a:srgbClr val="CBD5E1"/>
                </a:solidFill>
              </a:defRPr>
            </a:pPr>
            <a:r>
              <a:t>Every script is cryptographically hashed upon upload to prevent substitution.</a:t>
            </a:r>
          </a:p>
        </p:txBody>
      </p:sp>
      <p:sp>
        <p:nvSpPr>
          <p:cNvPr id="15" name="Rounded Rectangle 14"/>
          <p:cNvSpPr/>
          <p:nvPr/>
        </p:nvSpPr>
        <p:spPr>
          <a:xfrm>
            <a:off x="731520" y="6035040"/>
            <a:ext cx="5303520" cy="411480"/>
          </a:xfrm>
          <a:prstGeom prst="roundRect">
            <a:avLst/>
          </a:prstGeom>
          <a:solidFill>
            <a:srgbClr val="101828"/>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KEY CAPABILITY:  MULTI-FORMAT • CRYPTOGRAPHIC HASHING</a:t>
            </a:r>
          </a:p>
        </p:txBody>
      </p:sp>
      <p:sp>
        <p:nvSpPr>
          <p:cNvPr id="16" name="Rounded Rectangle 15"/>
          <p:cNvSpPr/>
          <p:nvPr/>
        </p:nvSpPr>
        <p:spPr>
          <a:xfrm>
            <a:off x="6309360" y="914400"/>
            <a:ext cx="5120640" cy="5212080"/>
          </a:xfrm>
          <a:prstGeom prst="roundRect">
            <a:avLst/>
          </a:prstGeom>
          <a:solidFill>
            <a:srgbClr val="0F172A"/>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5_ingestion.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10B981"/>
                </a:solidFill>
              </a:defRPr>
            </a:pPr>
            <a:r>
              <a:t>SLIDE 6/10  |  VISION AI PIPELINE</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Handwriting to Rubric Reasoning</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Multi-pass multimodal intelligence evaluates each answer step-by-step</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Cursive &amp; Formula Parsing</a:t>
            </a:r>
          </a:p>
          <a:p>
            <a:pPr>
              <a:defRPr sz="1100">
                <a:solidFill>
                  <a:srgbClr val="CBD5E1"/>
                </a:solidFill>
              </a:defRPr>
            </a:pPr>
            <a:r>
              <a:t>Vision LLM deciphers handwriting, math equations, and diagram annotations.</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Rubric Criteria Alignment</a:t>
            </a:r>
          </a:p>
          <a:p>
            <a:pPr>
              <a:defRPr sz="1100">
                <a:solidFill>
                  <a:srgbClr val="CBD5E1"/>
                </a:solidFill>
              </a:defRPr>
            </a:pPr>
            <a:r>
              <a:t>Evaluates method, intermediate calculations, units, and final answers.</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Color-Coded Confidence</a:t>
            </a:r>
          </a:p>
          <a:p>
            <a:pPr>
              <a:defRPr sz="1100">
                <a:solidFill>
                  <a:srgbClr val="CBD5E1"/>
                </a:solidFill>
              </a:defRPr>
            </a:pPr>
            <a:r>
              <a:t>High (&gt;90% Green), Medium (75-90% Yellow), Low (&lt;75% Red) quality index.</a:t>
            </a:r>
          </a:p>
        </p:txBody>
      </p:sp>
      <p:sp>
        <p:nvSpPr>
          <p:cNvPr id="15" name="Rounded Rectangle 14"/>
          <p:cNvSpPr/>
          <p:nvPr/>
        </p:nvSpPr>
        <p:spPr>
          <a:xfrm>
            <a:off x="731520" y="6035040"/>
            <a:ext cx="5303520" cy="411480"/>
          </a:xfrm>
          <a:prstGeom prst="roundRect">
            <a:avLst/>
          </a:prstGeom>
          <a:solidFill>
            <a:srgbClr val="10182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KEY CAPABILITY:  STEP-BY-STEP REASONING • DUAL-PASS OCR</a:t>
            </a:r>
          </a:p>
        </p:txBody>
      </p:sp>
      <p:sp>
        <p:nvSpPr>
          <p:cNvPr id="16" name="Rounded Rectangle 15"/>
          <p:cNvSpPr/>
          <p:nvPr/>
        </p:nvSpPr>
        <p:spPr>
          <a:xfrm>
            <a:off x="6309360" y="914400"/>
            <a:ext cx="5120640" cy="5212080"/>
          </a:xfrm>
          <a:prstGeom prst="roundRect">
            <a:avLst/>
          </a:prstGeom>
          <a:solidFill>
            <a:srgbClr val="0F172A"/>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sion_ocr_rubric_1788536210161.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0EA5E9"/>
                </a:solidFill>
              </a:defRPr>
            </a:pPr>
            <a:r>
              <a:t>SLIDE 7/10  |  EXAMINER WORKSPACE</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Split-Screen Examiner Experience</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Clean, distraction-free environment built for hours of efficient grading</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Side-by-Side Canvas</a:t>
            </a:r>
          </a:p>
          <a:p>
            <a:pPr>
              <a:defRPr sz="1100">
                <a:solidFill>
                  <a:srgbClr val="CBD5E1"/>
                </a:solidFill>
              </a:defRPr>
            </a:pPr>
            <a:r>
              <a:t>High-res original answer script on the left; AI rubric breakdown on the right.</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One-Click Actions</a:t>
            </a:r>
          </a:p>
          <a:p>
            <a:pPr>
              <a:defRPr sz="1100">
                <a:solidFill>
                  <a:srgbClr val="CBD5E1"/>
                </a:solidFill>
              </a:defRPr>
            </a:pPr>
            <a:r>
              <a:t>Instantly Approve AI marks or Flag for Senior Moderator review.</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Mandatory Override Rationale</a:t>
            </a:r>
          </a:p>
          <a:p>
            <a:pPr>
              <a:defRPr sz="1100">
                <a:solidFill>
                  <a:srgbClr val="CBD5E1"/>
                </a:solidFill>
              </a:defRPr>
            </a:pPr>
            <a:r>
              <a:t>Hard requirement: Examiner must enter a typed reason to override any score.</a:t>
            </a:r>
          </a:p>
        </p:txBody>
      </p:sp>
      <p:sp>
        <p:nvSpPr>
          <p:cNvPr id="15" name="Rounded Rectangle 14"/>
          <p:cNvSpPr/>
          <p:nvPr/>
        </p:nvSpPr>
        <p:spPr>
          <a:xfrm>
            <a:off x="731520" y="6035040"/>
            <a:ext cx="5303520" cy="411480"/>
          </a:xfrm>
          <a:prstGeom prst="roundRect">
            <a:avLst/>
          </a:prstGeom>
          <a:solidFill>
            <a:srgbClr val="101828"/>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KEY CAPABILITY:  MANDATORY OVERRIDE REASON • ERGONOMIC UI</a:t>
            </a:r>
          </a:p>
        </p:txBody>
      </p:sp>
      <p:sp>
        <p:nvSpPr>
          <p:cNvPr id="16" name="Rounded Rectangle 15"/>
          <p:cNvSpPr/>
          <p:nvPr/>
        </p:nvSpPr>
        <p:spPr>
          <a:xfrm>
            <a:off x="6309360" y="914400"/>
            <a:ext cx="5120640" cy="5212080"/>
          </a:xfrm>
          <a:prstGeom prst="roundRect">
            <a:avLst/>
          </a:prstGeom>
          <a:solidFill>
            <a:srgbClr val="0F172A"/>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lit_screen_ui_1788536269578.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10B981"/>
                </a:solidFill>
              </a:defRPr>
            </a:pPr>
            <a:r>
              <a:t>SLIDE 8/10  |  GOVERNANCE &amp; COMPLIANCE</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Append-Only Audit Trail &amp; RTI Defense</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Complete transparency and institutional accountability for every mark</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Immutable Event Ledger</a:t>
            </a:r>
          </a:p>
          <a:p>
            <a:pPr>
              <a:defRPr sz="1100">
                <a:solidFill>
                  <a:srgbClr val="CBD5E1"/>
                </a:solidFill>
              </a:defRPr>
            </a:pPr>
            <a:r>
              <a:t>Every AI suggestion, examiner override, timestamp, and user ID logged permanently.</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Zero Black-Box Mystery</a:t>
            </a:r>
          </a:p>
          <a:p>
            <a:pPr>
              <a:defRPr sz="1100">
                <a:solidFill>
                  <a:srgbClr val="CBD5E1"/>
                </a:solidFill>
              </a:defRPr>
            </a:pPr>
            <a:r>
              <a:t>Every awarded half-mark is backed by transcribed text and rubric criteria.</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Instant Legal &amp; RTI Defense</a:t>
            </a:r>
          </a:p>
          <a:p>
            <a:pPr>
              <a:defRPr sz="1100">
                <a:solidFill>
                  <a:srgbClr val="CBD5E1"/>
                </a:solidFill>
              </a:defRPr>
            </a:pPr>
            <a:r>
              <a:t>Export certified evaluation reports with examiner signatures in seconds.</a:t>
            </a:r>
          </a:p>
        </p:txBody>
      </p:sp>
      <p:sp>
        <p:nvSpPr>
          <p:cNvPr id="15" name="Rounded Rectangle 14"/>
          <p:cNvSpPr/>
          <p:nvPr/>
        </p:nvSpPr>
        <p:spPr>
          <a:xfrm>
            <a:off x="731520" y="6035040"/>
            <a:ext cx="5303520" cy="411480"/>
          </a:xfrm>
          <a:prstGeom prst="roundRect">
            <a:avLst/>
          </a:prstGeom>
          <a:solidFill>
            <a:srgbClr val="10182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KEY CAPABILITY:  100% RTI DEFENSIVE • APPEND-ONLY LEDGER</a:t>
            </a:r>
          </a:p>
        </p:txBody>
      </p:sp>
      <p:sp>
        <p:nvSpPr>
          <p:cNvPr id="16" name="Rounded Rectangle 15"/>
          <p:cNvSpPr/>
          <p:nvPr/>
        </p:nvSpPr>
        <p:spPr>
          <a:xfrm>
            <a:off x="6309360" y="914400"/>
            <a:ext cx="5120640" cy="5212080"/>
          </a:xfrm>
          <a:prstGeom prst="roundRect">
            <a:avLst/>
          </a:prstGeom>
          <a:solidFill>
            <a:srgbClr val="0F172A"/>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udit_trail_rti_1788536296243.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F59E0B"/>
                </a:solidFill>
              </a:defRPr>
            </a:pPr>
            <a:r>
              <a:t>SLIDE 9/10  |  BATCH MONITORING</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Admin Dashboard &amp; Quality Control</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Macro-level visibility across examination centers and examiner cohorts</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Real-Time Pipeline Status</a:t>
            </a:r>
          </a:p>
          <a:p>
            <a:pPr>
              <a:defRPr sz="1100">
                <a:solidFill>
                  <a:srgbClr val="CBD5E1"/>
                </a:solidFill>
              </a:defRPr>
            </a:pPr>
            <a:r>
              <a:t>Live counters for Pending, Graded, and Flagged scripts across batches.</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Override Rate Tracking</a:t>
            </a:r>
          </a:p>
          <a:p>
            <a:pPr>
              <a:defRPr sz="1100">
                <a:solidFill>
                  <a:srgbClr val="CBD5E1"/>
                </a:solidFill>
              </a:defRPr>
            </a:pPr>
            <a:r>
              <a:t>Monitors examiner divergence to detect ambiguous rubrics or grading bias.</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Average Confidence Index</a:t>
            </a:r>
          </a:p>
          <a:p>
            <a:pPr>
              <a:defRPr sz="1100">
                <a:solidFill>
                  <a:srgbClr val="CBD5E1"/>
                </a:solidFill>
              </a:defRPr>
            </a:pPr>
            <a:r>
              <a:t>Guarantees scan quality and flags illegible batches automatically.</a:t>
            </a:r>
          </a:p>
        </p:txBody>
      </p:sp>
      <p:sp>
        <p:nvSpPr>
          <p:cNvPr id="15" name="Rounded Rectangle 14"/>
          <p:cNvSpPr/>
          <p:nvPr/>
        </p:nvSpPr>
        <p:spPr>
          <a:xfrm>
            <a:off x="731520" y="6035040"/>
            <a:ext cx="5303520" cy="411480"/>
          </a:xfrm>
          <a:prstGeom prst="roundRect">
            <a:avLst/>
          </a:prstGeom>
          <a:solidFill>
            <a:srgbClr val="10182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KEY CAPABILITY:  REAL-TIME QC • DRIFT DETECTION</a:t>
            </a:r>
          </a:p>
        </p:txBody>
      </p:sp>
      <p:sp>
        <p:nvSpPr>
          <p:cNvPr id="16" name="Rounded Rectangle 15"/>
          <p:cNvSpPr/>
          <p:nvPr/>
        </p:nvSpPr>
        <p:spPr>
          <a:xfrm>
            <a:off x="6309360" y="914400"/>
            <a:ext cx="5120640" cy="5212080"/>
          </a:xfrm>
          <a:prstGeom prst="roundRect">
            <a:avLst/>
          </a:prstGeom>
          <a:solidFill>
            <a:srgbClr val="0F172A"/>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9_analytics.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657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000" b="1">
                <a:solidFill>
                  <a:srgbClr val="10B981"/>
                </a:solidFill>
              </a:defRPr>
            </a:pPr>
            <a:r>
              <a:t>SLIDE 10/10  |  IMPACT &amp; ROADMAP</a:t>
            </a:r>
          </a:p>
        </p:txBody>
      </p:sp>
      <p:sp>
        <p:nvSpPr>
          <p:cNvPr id="4" name="TextBox 3"/>
          <p:cNvSpPr txBox="1"/>
          <p:nvPr/>
        </p:nvSpPr>
        <p:spPr>
          <a:xfrm>
            <a:off x="731520" y="914400"/>
            <a:ext cx="5486400" cy="731520"/>
          </a:xfrm>
          <a:prstGeom prst="rect">
            <a:avLst/>
          </a:prstGeom>
          <a:noFill/>
        </p:spPr>
        <p:txBody>
          <a:bodyPr wrap="square">
            <a:spAutoFit/>
          </a:bodyPr>
          <a:lstStyle/>
          <a:p>
            <a:pPr>
              <a:defRPr sz="2800" b="1">
                <a:solidFill>
                  <a:srgbClr val="F8FAFC"/>
                </a:solidFill>
              </a:defRPr>
            </a:pPr>
            <a:r>
              <a:t>Transformational Impact &amp; Future</a:t>
            </a:r>
          </a:p>
        </p:txBody>
      </p:sp>
      <p:sp>
        <p:nvSpPr>
          <p:cNvPr id="5" name="TextBox 4"/>
          <p:cNvSpPr txBox="1"/>
          <p:nvPr/>
        </p:nvSpPr>
        <p:spPr>
          <a:xfrm>
            <a:off x="731520" y="1645920"/>
            <a:ext cx="5486400" cy="548640"/>
          </a:xfrm>
          <a:prstGeom prst="rect">
            <a:avLst/>
          </a:prstGeom>
          <a:noFill/>
        </p:spPr>
        <p:txBody>
          <a:bodyPr wrap="square">
            <a:spAutoFit/>
          </a:bodyPr>
          <a:lstStyle/>
          <a:p>
            <a:pPr>
              <a:defRPr sz="1300">
                <a:solidFill>
                  <a:srgbClr val="94A3B8"/>
                </a:solidFill>
              </a:defRPr>
            </a:pPr>
            <a:r>
              <a:t>Scaling trust, speed, and accuracy for state and national exam boards</a:t>
            </a:r>
          </a:p>
        </p:txBody>
      </p:sp>
      <p:sp>
        <p:nvSpPr>
          <p:cNvPr id="6" name="Rounded Rectangle 5"/>
          <p:cNvSpPr/>
          <p:nvPr/>
        </p:nvSpPr>
        <p:spPr>
          <a:xfrm>
            <a:off x="731520" y="237744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56032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846320" cy="868680"/>
          </a:xfrm>
          <a:prstGeom prst="rect">
            <a:avLst/>
          </a:prstGeom>
          <a:noFill/>
        </p:spPr>
        <p:txBody>
          <a:bodyPr wrap="square">
            <a:spAutoFit/>
          </a:bodyPr>
          <a:lstStyle/>
          <a:p>
            <a:pPr>
              <a:defRPr sz="1400" b="1">
                <a:solidFill>
                  <a:srgbClr val="F8FAFC"/>
                </a:solidFill>
              </a:defRPr>
            </a:pPr>
            <a:r>
              <a:t>70% Faster Results</a:t>
            </a:r>
          </a:p>
          <a:p>
            <a:pPr>
              <a:defRPr sz="1100">
                <a:solidFill>
                  <a:srgbClr val="CBD5E1"/>
                </a:solidFill>
              </a:defRPr>
            </a:pPr>
            <a:r>
              <a:t>Reduces evaluation turnaround from 60 days to under 18 days.</a:t>
            </a:r>
          </a:p>
        </p:txBody>
      </p:sp>
      <p:sp>
        <p:nvSpPr>
          <p:cNvPr id="9" name="Rounded Rectangle 8"/>
          <p:cNvSpPr/>
          <p:nvPr/>
        </p:nvSpPr>
        <p:spPr>
          <a:xfrm>
            <a:off x="731520" y="356616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74904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657600"/>
            <a:ext cx="4846320" cy="868680"/>
          </a:xfrm>
          <a:prstGeom prst="rect">
            <a:avLst/>
          </a:prstGeom>
          <a:noFill/>
        </p:spPr>
        <p:txBody>
          <a:bodyPr wrap="square">
            <a:spAutoFit/>
          </a:bodyPr>
          <a:lstStyle/>
          <a:p>
            <a:pPr>
              <a:defRPr sz="1400" b="1">
                <a:solidFill>
                  <a:srgbClr val="F8FAFC"/>
                </a:solidFill>
              </a:defRPr>
            </a:pPr>
            <a:r>
              <a:t>Zero Retotalling Errors</a:t>
            </a:r>
          </a:p>
          <a:p>
            <a:pPr>
              <a:defRPr sz="1100">
                <a:solidFill>
                  <a:srgbClr val="CBD5E1"/>
                </a:solidFill>
              </a:defRPr>
            </a:pPr>
            <a:r>
              <a:t>Automated tallying eliminates missed questions and mathematical mistakes.</a:t>
            </a:r>
          </a:p>
        </p:txBody>
      </p:sp>
      <p:sp>
        <p:nvSpPr>
          <p:cNvPr id="12" name="Rounded Rectangle 11"/>
          <p:cNvSpPr/>
          <p:nvPr/>
        </p:nvSpPr>
        <p:spPr>
          <a:xfrm>
            <a:off x="731520" y="4754880"/>
            <a:ext cx="5303520" cy="10515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937760"/>
            <a:ext cx="109728"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46320"/>
            <a:ext cx="4846320" cy="868680"/>
          </a:xfrm>
          <a:prstGeom prst="rect">
            <a:avLst/>
          </a:prstGeom>
          <a:noFill/>
        </p:spPr>
        <p:txBody>
          <a:bodyPr wrap="square">
            <a:spAutoFit/>
          </a:bodyPr>
          <a:lstStyle/>
          <a:p>
            <a:pPr>
              <a:defRPr sz="1400" b="1">
                <a:solidFill>
                  <a:srgbClr val="F8FAFC"/>
                </a:solidFill>
              </a:defRPr>
            </a:pPr>
            <a:r>
              <a:t>Next Generation Scaling</a:t>
            </a:r>
          </a:p>
          <a:p>
            <a:pPr>
              <a:defRPr sz="1100">
                <a:solidFill>
                  <a:srgbClr val="CBD5E1"/>
                </a:solidFill>
              </a:defRPr>
            </a:pPr>
            <a:r>
              <a:t>Support for 12 regional Indic languages, math LaTeX, and multi-region cloud sync.</a:t>
            </a:r>
          </a:p>
        </p:txBody>
      </p:sp>
      <p:sp>
        <p:nvSpPr>
          <p:cNvPr id="15" name="Rounded Rectangle 14"/>
          <p:cNvSpPr/>
          <p:nvPr/>
        </p:nvSpPr>
        <p:spPr>
          <a:xfrm>
            <a:off x="731520" y="6035040"/>
            <a:ext cx="5303520" cy="411480"/>
          </a:xfrm>
          <a:prstGeom prst="roundRect">
            <a:avLst/>
          </a:prstGeom>
          <a:solidFill>
            <a:srgbClr val="10182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KEY CAPABILITY:  FASTER • FAIRER • 100% AUDITABLE</a:t>
            </a:r>
          </a:p>
        </p:txBody>
      </p:sp>
      <p:sp>
        <p:nvSpPr>
          <p:cNvPr id="16" name="Rounded Rectangle 15"/>
          <p:cNvSpPr/>
          <p:nvPr/>
        </p:nvSpPr>
        <p:spPr>
          <a:xfrm>
            <a:off x="6309360" y="914400"/>
            <a:ext cx="5120640" cy="5212080"/>
          </a:xfrm>
          <a:prstGeom prst="roundRect">
            <a:avLst/>
          </a:prstGeom>
          <a:solidFill>
            <a:srgbClr val="0F172A"/>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10_impact.jpg"/>
          <p:cNvPicPr>
            <a:picLocks noChangeAspect="1"/>
          </p:cNvPicPr>
          <p:nvPr/>
        </p:nvPicPr>
        <p:blipFill>
          <a:blip r:embed="rId2"/>
          <a:stretch>
            <a:fillRect/>
          </a:stretch>
        </p:blipFill>
        <p:spPr>
          <a:xfrm>
            <a:off x="6400800" y="1005840"/>
            <a:ext cx="4937760"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